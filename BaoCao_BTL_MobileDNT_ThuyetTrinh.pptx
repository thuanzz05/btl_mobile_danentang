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0e8cf417114e27" /><Relationship Type="http://schemas.openxmlformats.org/officeDocument/2006/relationships/extended-properties" Target="/docProps/app.xml" Id="Ra87a4808daed41d2" /><Relationship Type="http://schemas.openxmlformats.org/officeDocument/2006/relationships/officeDocument" Target="/ppt/presentation.xml" Id="Re8d6f853fcd14b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41f96693cd4fd9"/>
  </p:sldMasterIdLst>
  <p:notesMasterIdLst>
    <p:notesMasterId xmlns:r="http://schemas.openxmlformats.org/officeDocument/2006/relationships" r:id="R5ca6594fee95467d"/>
  </p:notesMasterIdLst>
  <p:sldIdLst>
    <p:sldId xmlns:r="http://schemas.openxmlformats.org/officeDocument/2006/relationships" id="256" r:id="R74cfe9a58c604dd7"/>
    <p:sldId xmlns:r="http://schemas.openxmlformats.org/officeDocument/2006/relationships" id="257" r:id="Rbdfab904708c404d"/>
    <p:sldId xmlns:r="http://schemas.openxmlformats.org/officeDocument/2006/relationships" id="258" r:id="R3b5a737362bd4643"/>
    <p:sldId xmlns:r="http://schemas.openxmlformats.org/officeDocument/2006/relationships" id="259" r:id="R9d2a32bf05bf43cf"/>
    <p:sldId xmlns:r="http://schemas.openxmlformats.org/officeDocument/2006/relationships" id="260" r:id="R5f4b65f8b13844a7"/>
    <p:sldId xmlns:r="http://schemas.openxmlformats.org/officeDocument/2006/relationships" id="261" r:id="R5a09c0367308428e"/>
    <p:sldId xmlns:r="http://schemas.openxmlformats.org/officeDocument/2006/relationships" id="262" r:id="R0310e090de6c4603"/>
    <p:sldId xmlns:r="http://schemas.openxmlformats.org/officeDocument/2006/relationships" id="263" r:id="R1013b0e5ff9f4ef4"/>
    <p:sldId xmlns:r="http://schemas.openxmlformats.org/officeDocument/2006/relationships" id="264" r:id="Ra666fc49275448fb"/>
    <p:sldId xmlns:r="http://schemas.openxmlformats.org/officeDocument/2006/relationships" id="265" r:id="R3d9946e916f94fbb"/>
    <p:sldId xmlns:r="http://schemas.openxmlformats.org/officeDocument/2006/relationships" id="266" r:id="R3b6af33c8ae04c4d"/>
    <p:sldId xmlns:r="http://schemas.openxmlformats.org/officeDocument/2006/relationships" id="267" r:id="R99d47abacd1e4648"/>
    <p:sldId xmlns:r="http://schemas.openxmlformats.org/officeDocument/2006/relationships" id="268" r:id="R5a7cc7aedd5b4d2d"/>
    <p:sldId xmlns:r="http://schemas.openxmlformats.org/officeDocument/2006/relationships" id="269" r:id="Ra42cee0279624fc9"/>
    <p:sldId xmlns:r="http://schemas.openxmlformats.org/officeDocument/2006/relationships" id="270" r:id="R7469f28a23234e05"/>
    <p:sldId xmlns:r="http://schemas.openxmlformats.org/officeDocument/2006/relationships" id="271" r:id="R89ea1abd4a70481c"/>
    <p:sldId xmlns:r="http://schemas.openxmlformats.org/officeDocument/2006/relationships" id="272" r:id="R1da6f907a2a0480e"/>
    <p:sldId xmlns:r="http://schemas.openxmlformats.org/officeDocument/2006/relationships" id="273" r:id="Rafbd2eb3ca384a31"/>
    <p:sldId xmlns:r="http://schemas.openxmlformats.org/officeDocument/2006/relationships" id="274" r:id="R98d463f8c2254923"/>
    <p:sldId xmlns:r="http://schemas.openxmlformats.org/officeDocument/2006/relationships" id="275" r:id="R368e61397f904b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bdd4ab4d494b18" /><Relationship Type="http://schemas.openxmlformats.org/officeDocument/2006/relationships/slideMaster" Target="/ppt/slideMasters/slideMaster1.xml" Id="Ra641f96693cd4fd9" /><Relationship Type="http://schemas.openxmlformats.org/officeDocument/2006/relationships/notesMaster" Target="/ppt/notesMasters/notesMaster1.xml" Id="R5ca6594fee95467d" /><Relationship Type="http://schemas.openxmlformats.org/officeDocument/2006/relationships/presProps" Target="/ppt/presProps.xml" Id="R640c5d9c6b734682" /><Relationship Type="http://schemas.openxmlformats.org/officeDocument/2006/relationships/tableStyles" Target="/ppt/tableStyles.xml" Id="Rc9a2d396ad194fb8" /><Relationship Type="http://schemas.openxmlformats.org/officeDocument/2006/relationships/slide" Target="/ppt/slides/slide1.xml" Id="R74cfe9a58c604dd7" /><Relationship Type="http://schemas.openxmlformats.org/officeDocument/2006/relationships/slide" Target="/ppt/slides/slide2.xml" Id="Rbdfab904708c404d" /><Relationship Type="http://schemas.openxmlformats.org/officeDocument/2006/relationships/slide" Target="/ppt/slides/slide3.xml" Id="R3b5a737362bd4643" /><Relationship Type="http://schemas.openxmlformats.org/officeDocument/2006/relationships/slide" Target="/ppt/slides/slide4.xml" Id="R9d2a32bf05bf43cf" /><Relationship Type="http://schemas.openxmlformats.org/officeDocument/2006/relationships/slide" Target="/ppt/slides/slide5.xml" Id="R5f4b65f8b13844a7" /><Relationship Type="http://schemas.openxmlformats.org/officeDocument/2006/relationships/slide" Target="/ppt/slides/slide6.xml" Id="R5a09c0367308428e" /><Relationship Type="http://schemas.openxmlformats.org/officeDocument/2006/relationships/slide" Target="/ppt/slides/slide7.xml" Id="R0310e090de6c4603" /><Relationship Type="http://schemas.openxmlformats.org/officeDocument/2006/relationships/slide" Target="/ppt/slides/slide8.xml" Id="R1013b0e5ff9f4ef4" /><Relationship Type="http://schemas.openxmlformats.org/officeDocument/2006/relationships/slide" Target="/ppt/slides/slide9.xml" Id="Ra666fc49275448fb" /><Relationship Type="http://schemas.openxmlformats.org/officeDocument/2006/relationships/slide" Target="/ppt/slides/slide10.xml" Id="R3d9946e916f94fbb" /><Relationship Type="http://schemas.openxmlformats.org/officeDocument/2006/relationships/slide" Target="/ppt/slides/slide11.xml" Id="R3b6af33c8ae04c4d" /><Relationship Type="http://schemas.openxmlformats.org/officeDocument/2006/relationships/slide" Target="/ppt/slides/slide12.xml" Id="R99d47abacd1e4648" /><Relationship Type="http://schemas.openxmlformats.org/officeDocument/2006/relationships/slide" Target="/ppt/slides/slide13.xml" Id="R5a7cc7aedd5b4d2d" /><Relationship Type="http://schemas.openxmlformats.org/officeDocument/2006/relationships/slide" Target="/ppt/slides/slide14.xml" Id="Ra42cee0279624fc9" /><Relationship Type="http://schemas.openxmlformats.org/officeDocument/2006/relationships/slide" Target="/ppt/slides/slide15.xml" Id="R7469f28a23234e05" /><Relationship Type="http://schemas.openxmlformats.org/officeDocument/2006/relationships/slide" Target="/ppt/slides/slide16.xml" Id="R89ea1abd4a70481c" /><Relationship Type="http://schemas.openxmlformats.org/officeDocument/2006/relationships/slide" Target="/ppt/slides/slide17.xml" Id="R1da6f907a2a0480e" /><Relationship Type="http://schemas.openxmlformats.org/officeDocument/2006/relationships/slide" Target="/ppt/slides/slide18.xml" Id="Rafbd2eb3ca384a31" /><Relationship Type="http://schemas.openxmlformats.org/officeDocument/2006/relationships/slide" Target="/ppt/slides/slide19.xml" Id="R98d463f8c2254923" /><Relationship Type="http://schemas.openxmlformats.org/officeDocument/2006/relationships/slide" Target="/ppt/slides/slide20.xml" Id="R368e61397f90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834bd2457f45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Wordleaf">
      <a:dk1>
        <a:srgbClr val="000000"/>
      </a:dk1>
      <a:lt1>
        <a:srgbClr val="FFFFFF"/>
      </a:lt1>
      <a:dk2>
        <a:srgbClr val="173238"/>
      </a:dk2>
      <a:lt2>
        <a:srgbClr val="CFD9D6"/>
      </a:lt2>
      <a:accent1>
        <a:srgbClr val="2E6678"/>
      </a:accent1>
      <a:accent2>
        <a:srgbClr val="24715A"/>
      </a:accent2>
      <a:accent3>
        <a:srgbClr val="B95839"/>
      </a:accent3>
      <a:accent4>
        <a:srgbClr val="D3A34A"/>
      </a:accent4>
      <a:accent5>
        <a:srgbClr val="6B7A99"/>
      </a:accent5>
      <a:accent6>
        <a:srgbClr val="72A27D"/>
      </a:accent6>
      <a:hlink>
        <a:srgbClr val="2E6678"/>
      </a:hlink>
      <a:folHlink>
        <a:srgbClr val="B9583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ordleaf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462f194d8043a9" /><Relationship Type="http://schemas.openxmlformats.org/officeDocument/2006/relationships/notesMaster" Target="/ppt/notesMasters/notesMaster1.xml" Id="Rd64a6850d73d42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e35f9cfb244b47" /><Relationship Type="http://schemas.openxmlformats.org/officeDocument/2006/relationships/notesMaster" Target="/ppt/notesMasters/notesMaster1.xml" Id="R0172b4f44c2e4d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b6b0abf2794271" /><Relationship Type="http://schemas.openxmlformats.org/officeDocument/2006/relationships/notesMaster" Target="/ppt/notesMasters/notesMaster1.xml" Id="R7f21839fb82541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061d89479f4ead" /><Relationship Type="http://schemas.openxmlformats.org/officeDocument/2006/relationships/notesMaster" Target="/ppt/notesMasters/notesMaster1.xml" Id="Rba4ec93ea08545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b141afc2b34894" /><Relationship Type="http://schemas.openxmlformats.org/officeDocument/2006/relationships/notesMaster" Target="/ppt/notesMasters/notesMaster1.xml" Id="R12b68d21003b4f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46f26345d84729" /><Relationship Type="http://schemas.openxmlformats.org/officeDocument/2006/relationships/notesMaster" Target="/ppt/notesMasters/notesMaster1.xml" Id="R5495dcba7cf64a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6519567daa457a" /><Relationship Type="http://schemas.openxmlformats.org/officeDocument/2006/relationships/notesMaster" Target="/ppt/notesMasters/notesMaster1.xml" Id="R4519e6e7a4df44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0243bbe3bb4962" /><Relationship Type="http://schemas.openxmlformats.org/officeDocument/2006/relationships/notesMaster" Target="/ppt/notesMasters/notesMaster1.xml" Id="Rc1e97a14bc294e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349697befc40d3" /><Relationship Type="http://schemas.openxmlformats.org/officeDocument/2006/relationships/notesMaster" Target="/ppt/notesMasters/notesMaster1.xml" Id="R06d6d0da924044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24b0181fcf40c8" /><Relationship Type="http://schemas.openxmlformats.org/officeDocument/2006/relationships/notesMaster" Target="/ppt/notesMasters/notesMaster1.xml" Id="R15f3774ab9d34b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ecbb56039e4580" /><Relationship Type="http://schemas.openxmlformats.org/officeDocument/2006/relationships/notesMaster" Target="/ppt/notesMasters/notesMaster1.xml" Id="R58eca8e2905a41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5350d86ba64a89" /><Relationship Type="http://schemas.openxmlformats.org/officeDocument/2006/relationships/notesMaster" Target="/ppt/notesMasters/notesMaster1.xml" Id="R370b41bf3e6648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e9375326574e56" /><Relationship Type="http://schemas.openxmlformats.org/officeDocument/2006/relationships/notesMaster" Target="/ppt/notesMasters/notesMaster1.xml" Id="Rbf760f4bba534f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6bfd18e721409b" /><Relationship Type="http://schemas.openxmlformats.org/officeDocument/2006/relationships/notesMaster" Target="/ppt/notesMasters/notesMaster1.xml" Id="R4b2a7340c52a4b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5f572509844402" /><Relationship Type="http://schemas.openxmlformats.org/officeDocument/2006/relationships/notesMaster" Target="/ppt/notesMasters/notesMaster1.xml" Id="Rdf98200b4ff74e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43b3f721da4f2b" /><Relationship Type="http://schemas.openxmlformats.org/officeDocument/2006/relationships/notesMaster" Target="/ppt/notesMasters/notesMaster1.xml" Id="Re1e1f64011bc45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ec4761fe694266" /><Relationship Type="http://schemas.openxmlformats.org/officeDocument/2006/relationships/notesMaster" Target="/ppt/notesMasters/notesMaster1.xml" Id="R95be4360810a4f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20b0c80d8b47e3" /><Relationship Type="http://schemas.openxmlformats.org/officeDocument/2006/relationships/notesMaster" Target="/ppt/notesMasters/notesMaster1.xml" Id="R289c2cc383a945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2ab629297f4de5" /><Relationship Type="http://schemas.openxmlformats.org/officeDocument/2006/relationships/notesMaster" Target="/ppt/notesMasters/notesMaster1.xml" Id="R06c3f6fee2a440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543a35d1f8448f" /><Relationship Type="http://schemas.openxmlformats.org/officeDocument/2006/relationships/notesMaster" Target="/ppt/notesMasters/notesMaster1.xml" Id="R4c201fae6f37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Trang bìa tổng hợp từ thông tin trong báo cáo.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Tóm tắt Chương 1, mục 1.1.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Tóm tắt Chương 1, mục 1.2 và 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Tổng hợp kiến trúc Client–Server và phạm vi chức năng.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Chương 2 và Chương 4, mục 4.1.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Hình 3-1 trong báo cáo.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Tổng hợp nghiệp vụ học flashcard, ôn tập và theo dõi tiến độ.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Hình 3-20 và mô tả giao diện flashcard.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Nghiệp vụ chọn từ được mô tả trong phần giải thích code và triển khai mobile.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Quy tắc trong backend/src/utils/srs.util.ts: 1, 2, 4, 7, 14 ngày.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Hình 3-21 và mô tả luồng ôn tập.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Quy tắc hàng đợi quiz và cập nhật Leitner trong báo cáo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Tổng hợp nghiệp vụ tiến độ, chuỗi ngày và thành tích.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Hình 3-18 trong báo cáo.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Tổng hợp yêu cầu phi chức năng và Chương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Hình 3-19 và Hình 3-22 trong báo cáo.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Hình 3-24 và mô tả Web Admin.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Bảng 4-1 trong báo cáo.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Tóm tắt phần Kết luận của báo cáo.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 và hình ảnh: BaoCao_BTL_MobileDNT.docx.</a:t>
            </a:r>
          </a:p>
          <a:p xmlns:a="http://schemas.openxmlformats.org/drawingml/2006/main">
            <a:r>
              <a:t>Trang kết thúc.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e2c868b9348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90ec3fe9104856" /><Relationship Type="http://schemas.openxmlformats.org/officeDocument/2006/relationships/slideLayout" Target="/ppt/slideLayouts/slideLayout1.xml" Id="R1f8a3067c43c4f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8a3067c43c4f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Wordleaf">
      <a:dk1>
        <a:srgbClr val="000000"/>
      </a:dk1>
      <a:lt1>
        <a:srgbClr val="FFFFFF"/>
      </a:lt1>
      <a:dk2>
        <a:srgbClr val="173238"/>
      </a:dk2>
      <a:lt2>
        <a:srgbClr val="CFD9D6"/>
      </a:lt2>
      <a:accent1>
        <a:srgbClr val="2E6678"/>
      </a:accent1>
      <a:accent2>
        <a:srgbClr val="24715A"/>
      </a:accent2>
      <a:accent3>
        <a:srgbClr val="B95839"/>
      </a:accent3>
      <a:accent4>
        <a:srgbClr val="D3A34A"/>
      </a:accent4>
      <a:accent5>
        <a:srgbClr val="6B7A99"/>
      </a:accent5>
      <a:accent6>
        <a:srgbClr val="72A27D"/>
      </a:accent6>
      <a:hlink>
        <a:srgbClr val="2E6678"/>
      </a:hlink>
      <a:folHlink>
        <a:srgbClr val="B9583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ordleaf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07aa15e544526" /><Relationship Type="http://schemas.openxmlformats.org/officeDocument/2006/relationships/notesSlide" Target="/ppt/notesSlides/notesSlide1.xml" Id="R7f56877f3c0644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52f931e984877" /><Relationship Type="http://schemas.openxmlformats.org/officeDocument/2006/relationships/notesSlide" Target="/ppt/notesSlides/notesSlide2.xml" Id="Rebbb9c21596d43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0b0d6c6954044" /><Relationship Type="http://schemas.openxmlformats.org/officeDocument/2006/relationships/notesSlide" Target="/ppt/notesSlides/notesSlide3.xml" Id="R61f297fea0e340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ebbc53cb74643" /><Relationship Type="http://schemas.openxmlformats.org/officeDocument/2006/relationships/notesSlide" Target="/ppt/notesSlides/notesSlide4.xml" Id="R79b970338a3946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2a717a9e74c02" /><Relationship Type="http://schemas.openxmlformats.org/officeDocument/2006/relationships/notesSlide" Target="/ppt/notesSlides/notesSlide5.xml" Id="Red434391718345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8cfa17e6e4113" /><Relationship Type="http://schemas.openxmlformats.org/officeDocument/2006/relationships/image" Target="/ppt/media/image.png" Id="R2800b7dcf60c4f5e" /><Relationship Type="http://schemas.openxmlformats.org/officeDocument/2006/relationships/notesSlide" Target="/ppt/notesSlides/notesSlide6.xml" Id="R5cac8139441b49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ba8898c104622" /><Relationship Type="http://schemas.openxmlformats.org/officeDocument/2006/relationships/notesSlide" Target="/ppt/notesSlides/notesSlide7.xml" Id="Rba932db4334943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f8adc24b548c3" /><Relationship Type="http://schemas.openxmlformats.org/officeDocument/2006/relationships/image" Target="/ppt/media/image.jpeg" Id="R63642418daac43ba" /><Relationship Type="http://schemas.openxmlformats.org/officeDocument/2006/relationships/notesSlide" Target="/ppt/notesSlides/notesSlide8.xml" Id="Ra96d651bb7fe4e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dfc7061654620" /><Relationship Type="http://schemas.openxmlformats.org/officeDocument/2006/relationships/notesSlide" Target="/ppt/notesSlides/notesSlide9.xml" Id="R0a886576af8c4f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5d9c9e4a4483c" /><Relationship Type="http://schemas.openxmlformats.org/officeDocument/2006/relationships/notesSlide" Target="/ppt/notesSlides/notesSlide10.xml" Id="Rda2525ee97ff4b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5397b89da4c36" /><Relationship Type="http://schemas.openxmlformats.org/officeDocument/2006/relationships/image" Target="/ppt/media/image2.jpeg" Id="R1e0d8175d6b34ef5" /><Relationship Type="http://schemas.openxmlformats.org/officeDocument/2006/relationships/notesSlide" Target="/ppt/notesSlides/notesSlide11.xml" Id="Rc2a09a55910746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39d8e47bc4405" /><Relationship Type="http://schemas.openxmlformats.org/officeDocument/2006/relationships/notesSlide" Target="/ppt/notesSlides/notesSlide12.xml" Id="Rdcf06e8dd8544c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ff07b22704fe1" /><Relationship Type="http://schemas.openxmlformats.org/officeDocument/2006/relationships/notesSlide" Target="/ppt/notesSlides/notesSlide13.xml" Id="R9d6d8667b03e41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a94b0655f4bf4" /><Relationship Type="http://schemas.openxmlformats.org/officeDocument/2006/relationships/image" Target="/ppt/media/image2.png" Id="R96164c0f514240f6" /><Relationship Type="http://schemas.openxmlformats.org/officeDocument/2006/relationships/notesSlide" Target="/ppt/notesSlides/notesSlide14.xml" Id="Ra1794a9a400146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ed54b36694d3f" /><Relationship Type="http://schemas.openxmlformats.org/officeDocument/2006/relationships/notesSlide" Target="/ppt/notesSlides/notesSlide15.xml" Id="R53c26495bac24e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05fa4f19d425f" /><Relationship Type="http://schemas.openxmlformats.org/officeDocument/2006/relationships/image" Target="/ppt/media/image3.jpeg" Id="Rde5c087f86324f13" /><Relationship Type="http://schemas.openxmlformats.org/officeDocument/2006/relationships/image" Target="/ppt/media/image4.jpeg" Id="Rcb99800ece9d401a" /><Relationship Type="http://schemas.openxmlformats.org/officeDocument/2006/relationships/notesSlide" Target="/ppt/notesSlides/notesSlide16.xml" Id="R992ec1623b2940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5f9c0e3c44067" /><Relationship Type="http://schemas.openxmlformats.org/officeDocument/2006/relationships/image" Target="/ppt/media/image5.jpeg" Id="Rb35deb91e06b426f" /><Relationship Type="http://schemas.openxmlformats.org/officeDocument/2006/relationships/notesSlide" Target="/ppt/notesSlides/notesSlide17.xml" Id="Rca162ca1052a4a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ef2adac80412f" /><Relationship Type="http://schemas.openxmlformats.org/officeDocument/2006/relationships/notesSlide" Target="/ppt/notesSlides/notesSlide18.xml" Id="Rd4246ce89e5c42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8eaf25df04761" /><Relationship Type="http://schemas.openxmlformats.org/officeDocument/2006/relationships/notesSlide" Target="/ppt/notesSlides/notesSlide19.xml" Id="R7dbf3e41638c42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7b701921c43fd" /><Relationship Type="http://schemas.openxmlformats.org/officeDocument/2006/relationships/notesSlide" Target="/ppt/notesSlides/notesSlide20.xml" Id="R485346a8e6b74c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96B22-5054-4401-A9BA-6534B0CD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82DB0-2EEF-46EB-9E7D-39BF41FD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WORDLEAF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C0323-DEF7-472A-8EC7-99C3E727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DEBE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DEBED"/>
                </a:solidFill>
                <a:latin typeface="Arial"/>
                <a:ea typeface="Arial"/>
                <a:cs typeface="Arial"/>
              </a:rPr>
              <a:t>BÀI TẬP LỚN</a:t>
            </a:r>
          </a:p>
          <a:p xmlns:a="http://schemas.openxmlformats.org/drawingml/2006/main">
            <a:pPr algn="l">
              <a:defRPr sz="1275" b="1">
                <a:solidFill>
                  <a:srgbClr val="DDEBE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DEBED"/>
                </a:solidFill>
                <a:latin typeface="Arial"/>
                <a:ea typeface="Arial"/>
                <a:cs typeface="Arial"/>
              </a:rPr>
              <a:t>LẬP TRÌNH MOBILE ĐA NỀN TẢNG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7AD34-EA5C-4370-B697-ED8AC87C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00150"/>
            <a:ext cx="676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XÂY DỰNG ỨNG DỤNG</a:t>
            </a:r>
          </a:p>
          <a:p xmlns:a="http://schemas.openxmlformats.org/drawingml/2006/main">
            <a:pPr algn="l">
              <a:defRPr sz="30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HỌC TỪ VỰNG TIẾNG ANH</a:t>
            </a:r>
          </a:p>
          <a:p xmlns:a="http://schemas.openxmlformats.org/drawingml/2006/main">
            <a:pPr algn="l">
              <a:defRPr sz="30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QUA FLASHCARD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64A89-5089-42A8-972D-A1C169DA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9148D-C01F-4444-926A-500AADC9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62375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Nguyễn Quốc Việt — 11023276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Nguyễn Duy Thuấn — 10123308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Lớp: 12523W.1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8B066-A827-491B-B26E-452CDD90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8637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Giảng viên hướng dẫn: ThS. Vũ Xuân Thắng</a:t>
            </a:r>
          </a:p>
          <a:p xmlns:a="http://schemas.openxmlformats.org/drawingml/2006/main">
            <a:pPr algn="l"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Hưng Yên,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70305-084C-4568-AFC4-EB9555CB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0165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A2183-5439-476F-A7A7-2DC316B2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Bài toán đặt 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950CB-420C-44DF-80BF-A2EFA9F6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29697-4ADA-4FEF-A695-E2ED2335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Vì sao cần một cách học từ vựng có lịch ôn rõ ràng?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A8205-1585-40B8-8D5E-5360A984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9CFD1-7568-4C71-844E-A945465A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Từ vựng là nền tảng của nghe, nói, đọc và viết, nhưng người mới học thường quên nhanh khi chỉ ghi chép hoặc ôn lại ngẫu nhiên.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F290C-9A75-4236-B6F8-52C4024E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11B78-67F5-46FD-8C56-CFBAA5CC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Khối lượng từ lớn, khó duy trì ghi nhớ dài hạn.</a:t>
            </a:r>
          </a:p>
          <a:p xmlns:a="http://schemas.openxmlformats.org/drawingml/2006/main">
            <a:pPr algn="l">
              <a:defRPr sz="15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Cách học truyền thống thiếu tương tác và dễ gây nhàm chán.</a:t>
            </a:r>
          </a:p>
          <a:p xmlns:a="http://schemas.openxmlformats.org/drawingml/2006/main">
            <a:pPr algn="l">
              <a:defRPr sz="15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Ôn mọi từ với tần suất giống nhau làm lãng phí thời gian.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CF482-54AC-489F-9127-EFED84A4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71475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E8F0F3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00DD4-9D62-4E4D-81A6-895E1E3A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GIẢI PHÁP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D4B97-2550-4B5C-B3C8-69DCCD6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Flashcard</a:t>
            </a:r>
          </a:p>
          <a:p xmlns:a="http://schemas.openxmlformats.org/drawingml/2006/main">
            <a:pPr algn="ctr">
              <a:defRPr sz="315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+</a:t>
            </a:r>
          </a:p>
          <a:p xmlns:a="http://schemas.openxmlformats.org/drawingml/2006/main">
            <a:pPr algn="ctr">
              <a:defRPr sz="315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Leitner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37773-BA34-4E57-A158-9DF8B1AC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Gợi nhớ chủ động và ôn đúng thời điểm trước khi quên.</a:t>
            </a:r>
          </a:p>
        </p:txBody>
      </p:sp>
    </p:spTree>
    <p:extLst>
      <p:ext uri="{BB962C8B-B14F-4D97-AF65-F5344CB8AC3E}">
        <p14:creationId xmlns:p14="http://schemas.microsoft.com/office/powerpoint/2010/main" val="132635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2AA5D-377E-4B11-9A76-A8CF21FE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Mục tiêu và phạm 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203D0-8663-4A7F-B4F1-EFD2A74C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252A6-676B-49E9-8E0E-E606FAA3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Một hệ thống đủ cho quá trình học, ôn và quản trị nội dung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7E7E2-3E00-49C3-9884-3B1F85EA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B8480-F9E8-48DF-ACAA-904AB2B9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ACD31-1639-481C-9FD3-3C502035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Học từ mới trực quan bằng flashcard.</a:t>
            </a:r>
          </a:p>
          <a:p xmlns:a="http://schemas.openxmlformats.org/drawingml/2006/main">
            <a:pPr algn="l">
              <a:defRPr sz="165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Ôn tập thích nghi theo Leitner 5 ngăn.</a:t>
            </a:r>
          </a:p>
          <a:p xmlns:a="http://schemas.openxmlformats.org/drawingml/2006/main">
            <a:pPr algn="l">
              <a:defRPr sz="165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Theo dõi tiến độ, mục tiêu ngày và thành tích.</a:t>
            </a:r>
          </a:p>
          <a:p xmlns:a="http://schemas.openxmlformats.org/drawingml/2006/main">
            <a:pPr algn="l">
              <a:defRPr sz="165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Quản trị tập trung chủ đề, từ vựng và người dùng.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90047-6630-47A6-B8BF-4F1B35C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F3AF0-CEF2-448B-8262-D0A4C9BC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668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PHẠM VI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22640-B5E2-4EEA-B430-6FDA00B8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D3A84-E8A4-4D2C-89F1-41D775EA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Đăng nhập, chủ đề, flashcard, quiz, tra từ, yêu thích, tiến độ và tài khoản.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74E9A-7959-42A8-A445-122F317A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Web quản trị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5FDAF-CE37-4A5E-9D99-1780AA1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Quản lý nội dung, người dùng, thành tích và báo cáo thống kê.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D5C90-7242-42A6-9AF3-A5AFB2AE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Đối tượng chính: người mới bắt đầu học tiếng Anh</a:t>
            </a:r>
          </a:p>
        </p:txBody>
      </p:sp>
    </p:spTree>
    <p:extLst>
      <p:ext uri="{BB962C8B-B14F-4D97-AF65-F5344CB8AC3E}">
        <p14:creationId xmlns:p14="http://schemas.microsoft.com/office/powerpoint/2010/main" val="52844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8FAA8-8FDB-4947-80B5-8859ECF1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Giải pháp Wordleaf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60322-E871-4CEF-983E-F15D619A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B2FB2-8B39-4052-ABEC-F2434822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Ba thành phần dùng chung một nguồn dữ liệu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A7EC2-8092-42F4-9159-345E91C0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59F48-9691-4A73-96F9-25820A18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33337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EEAF2-E593-4C2F-8531-9020CCAE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F3F0A-7552-43A4-92EC-A5D6D8C6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Ứng dụng 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B11AD-3506-49E7-B8F8-A73D8E7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Người học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6C276-BEF0-44CB-AE23-CF18D7CC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705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Học theo chủ đề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Flashcard và quiz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Theo dõi tiến độ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C0A4D-D41F-4769-81AE-36384CED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238500" cy="33337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7EC07-4E8B-440F-A099-2E1D97FE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B9122-1F12-41BA-BD0D-7E042AEC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0002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36A17-CBF7-4040-8B7C-1618A18F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574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Nghiệp vụ trung tâm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CE6CA-7A2D-4656-BCD2-73043F24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00375"/>
            <a:ext cx="2705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Xác thực và phân quyền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Tạo phiên, chấm điểm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Cập nhật Leitner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3F7DA-6E31-4129-A522-D7888010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238500" cy="33337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1263E-9188-4F74-8434-31401243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23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E6873-37A9-4F9B-A3A8-B702C0A7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Web quản trị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0A19F-0A94-4562-A1DF-ED5E4EFA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6B04E-1281-4392-901B-F441CCE7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0375"/>
            <a:ext cx="2705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Quản lý nội dung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Quản lý tài khoản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Thống kê học tập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42AD9-156E-4E5C-AD1B-B461907F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Dữ liệu học và nội dung luôn thống nhất giữa mobile và web quản trị.</a:t>
            </a:r>
          </a:p>
        </p:txBody>
      </p:sp>
    </p:spTree>
    <p:extLst>
      <p:ext uri="{BB962C8B-B14F-4D97-AF65-F5344CB8AC3E}">
        <p14:creationId xmlns:p14="http://schemas.microsoft.com/office/powerpoint/2010/main" val="1280980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548BF-9240-4D80-8A5F-A17F768A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Kiến trúc và công nghệ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91D81-DA11-4C2D-A66C-F428FBA9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55E79-DD13-475E-9B94-9D99F302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Luồng Client → API → dữ liệu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095F3-8D08-42CB-8976-DCAEB59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1F871-81E0-4B5A-A3A0-D4151B7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8F0F3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FA008-2B56-42FF-B0AA-F378CC83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F41EF-4331-4AE8-9B84-6625452F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React Native</a:t>
            </a:r>
          </a:p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Expo SDK 57</a:t>
            </a:r>
          </a:p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Expo Router</a:t>
            </a:r>
          </a:p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TypeScript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E75EA-0F70-4BA1-B02C-AF1885C1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476500" cy="2857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58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53A02-E481-469A-9658-74B8D1D2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52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F8588-611D-4D9F-A3C5-4116E322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76500"/>
            <a:ext cx="180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Node.js + Express</a:t>
            </a:r>
          </a:p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REST API</a:t>
            </a:r>
          </a:p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Zod + JWT</a:t>
            </a:r>
          </a:p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Service nghiệp vụ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306B5-D93E-4A43-B2AE-E410C564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6EEE3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A1359-29BE-420C-B4AF-3ED044F6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ADMIN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8D322-CA1E-45E5-9FC1-C7300AD0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React 19</a:t>
            </a:r>
          </a:p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Vite</a:t>
            </a:r>
          </a:p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TypeScript</a:t>
            </a:r>
          </a:p>
          <a:p xmlns:a="http://schemas.openxmlformats.org/drawingml/2006/main">
            <a:pPr algn="ctr">
              <a:defRPr sz="15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Responsive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42F31-379B-47FE-A368-CBD46168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337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7A518-E23E-4087-AB82-276BA6F6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HTTPS /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C94DD-1177-4872-9B10-CC32E2AF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5927B-EF02-47D9-9A2A-77B5D3C5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HTTPS /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630BA-3B00-410E-91B0-7D70DB35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2476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7323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E9AE1-6742-47FF-9851-E62A39B9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720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MySQL 8 · InnoDB · utf8mb4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C5DCD-1B00-4D13-8D05-856F68AB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95800"/>
            <a:ext cx="76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89126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1E0CC-391E-4302-994F-4BF0FBB3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Tác nhân và chức năng chính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0AFF7-F684-4BFB-8203-F3FD082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5D3E5-4076-4989-ACD4-5C61C93F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Khách, người học và quản trị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5F066-8EE7-4F12-A98E-4980F246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0b7dcf60c4f5e"/>
          <a:stretch xmlns:a="http://schemas.openxmlformats.org/drawingml/2006/main"/>
        </p:blipFill>
        <p:spPr>
          <a:xfrm xmlns:a="http://schemas.openxmlformats.org/drawingml/2006/main">
            <a:off x="847516" y="1333500"/>
            <a:ext cx="7448969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5DC56-0509-4D64-91E9-A40079BB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524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KHÁCH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28859-7FE2-4758-A63C-D009247E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859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Xem chủ đề</a:t>
            </a:r>
          </a:p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Tìm kiếm từ</a:t>
            </a:r>
          </a:p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Học thử flashcard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A629F-6BC5-439D-9CDA-0BD4EECA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48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NGƯỜI HỌC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CF42C-B83D-404B-89A8-AEF30F6A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099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Học và ôn tập</a:t>
            </a:r>
          </a:p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Theo dõi tiến độ</a:t>
            </a:r>
          </a:p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Yêu thích, thành tích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F9373-6056-47FC-AB9B-1A0DBEAB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72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DA0A5-525A-4559-B4D7-6416D20D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9339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Quản lý dữ liệu</a:t>
            </a:r>
          </a:p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Quản lý người dùng</a:t>
            </a:r>
          </a:p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Xem báo cáo</a:t>
            </a:r>
          </a:p>
        </p:txBody>
      </p:sp>
    </p:spTree>
    <p:extLst>
      <p:ext uri="{BB962C8B-B14F-4D97-AF65-F5344CB8AC3E}">
        <p14:creationId xmlns:p14="http://schemas.microsoft.com/office/powerpoint/2010/main" val="1735631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440B5-FA45-484F-9888-76E1290A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Quy trình học tổng thể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2DFD8-B54E-4A4C-A0DD-E963E1E0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ADFA5-37FF-4BF7-BB3B-2DE6FE4D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Từ khám phá chủ đề đến ôn tập đúng hạn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06DC0-5FF6-440E-B94E-FEBA9A27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54E8E-FD21-4E0D-8AC6-715BBD45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2000250" cy="2571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2558D-592F-4975-A4A0-C7715BD2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6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9933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1F104-C737-4594-AB73-61EFA9CA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Chọn chủ đề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D2A04-A600-484C-B83A-5B2458FD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Xem mô tả và danh sách từ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879C9-8CE6-4941-8C49-CED84C49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FD9D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FD9D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D64C6-F783-43AD-8EBC-71D4D33D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952625"/>
            <a:ext cx="2000250" cy="2571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0F3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A3215-0B84-4065-A8CC-14BAB729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1431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6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9933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5580F-8A17-453C-9AD1-9400A19E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575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Học flashcard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9ABDD-49D3-4D8B-B638-2DDB31D0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5623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Gợi nhớ trước khi lật thẻ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5B970-89CA-4367-BE08-C2E0E3EA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FD9D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FD9D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60D76-17A8-4AD8-81CB-6B0957EA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52625"/>
            <a:ext cx="2000250" cy="2571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25135-FA2B-4897-8FE2-A18B9C18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431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6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9933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B4234-4F11-4A8B-8A54-F2394AC6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575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Ghi nhận từ mới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2A1FF-8717-4FDA-9970-BA2B11CF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Đưa vào ngăn Leitner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CEF36-0FEF-4766-AE5D-946CF134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FD9D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FD9D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5F6E4-CB4A-423C-9F48-2566A8D2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52625"/>
            <a:ext cx="2000250" cy="2571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5F0C8-FBF8-4AF3-B1DA-8FD7F548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1431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9933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7D9F4-B839-4F01-8505-2F53AA04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575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Ôn tập đến hạn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55AB5-BA25-43DE-8EE7-EDE7AED3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623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Quiz chấm điểm tại 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68820-6587-4A9F-8B5C-E01B3EC6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FD9D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FD9D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45807-BFC9-4454-87B5-41E00666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952625"/>
            <a:ext cx="2000250" cy="2571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BA0232-AE2C-49A6-A0AE-DE63786E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1431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6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9933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2A6D3E-87A5-4CD3-BF5B-26571AB2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575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Theo dõi tiến độ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34218E-E843-4E38-A8BA-F1D0FA62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5623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Mục tiêu, chuỗi ngày, huy hiệu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B18E7-F331-4ABD-AF18-4FE3A610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Khách có thể học thử 5 thẻ nhưng kết quả không được lưu.</a:t>
            </a:r>
          </a:p>
        </p:txBody>
      </p:sp>
    </p:spTree>
    <p:extLst>
      <p:ext uri="{BB962C8B-B14F-4D97-AF65-F5344CB8AC3E}">
        <p14:creationId xmlns:p14="http://schemas.microsoft.com/office/powerpoint/2010/main" val="1115418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920D7-5095-4CBF-A879-6CC6751A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Học bằng flashcard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543EA-E25A-4281-8FBA-EAC1C9CF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DAA5C-9509-4A05-85C9-99A30547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Một mặt để gợi nhớ, một mặt để kiểm tra nghĩa và ví dụ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0C1E6-E746-434D-86C4-5A9557C1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42418daac43ba"/>
          <a:stretch xmlns:a="http://schemas.openxmlformats.org/drawingml/2006/main"/>
        </p:blipFill>
        <p:spPr>
          <a:xfrm xmlns:a="http://schemas.openxmlformats.org/drawingml/2006/main">
            <a:off x="1016673" y="1381125"/>
            <a:ext cx="658678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32D95-0CB7-481B-BB83-7F594E4B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MẶT TRƯỚC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547ED-0306-472D-802C-F6B83348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714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Từ tiếng Anh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Phiên âm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Phát âm bằng giọng thiết bị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C1A7F-78FA-4F50-B86F-E203FD0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3E671-B683-45CF-999C-854A49E6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MẶT SAU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BF4F0-A188-4DC7-9EC5-FB97215D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714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Nghĩa tiếng Việt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Loại từ</a:t>
            </a:r>
          </a:p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Câu ví dụ Anh – Việt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B78C4-AC83-490E-A096-94A893FA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86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Lật thẻ buộc người học tự gợi nhớ trước khi xem đáp án.</a:t>
            </a:r>
          </a:p>
        </p:txBody>
      </p:sp>
    </p:spTree>
    <p:extLst>
      <p:ext uri="{BB962C8B-B14F-4D97-AF65-F5344CB8AC3E}">
        <p14:creationId xmlns:p14="http://schemas.microsoft.com/office/powerpoint/2010/main" val="7694123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969D6-0DE9-4891-806A-348B4F3E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Chọn từ cho phiên flashcard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1C21E-7FB2-4DF5-BE69-7689688E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A5F3E-FD7F-4082-BF9D-A3E28292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Mỗi phiên lấy tối đa 20 từ và thay đổi giữa các lần học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378AC-AA84-4578-B675-ED49BB22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F5CF7-7C50-436C-9379-886AD3BB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0F3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2B785-304A-40C2-866E-E44DD69F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Mục tiêu ngày: 5, 10 hoặc 20 từ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4D9E1-4D73-4D99-8A9B-4E09F4FB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Khi còn từ chưa xem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58282-8571-41D0-BA0A-81F2C299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Ưu tiên chọn ngẫu nhiên trong nhóm từ chưa học của chủ đề.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BBCB9-9550-4F1F-BD01-45A56171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44070-A353-4694-8DD5-9C4BC7EF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Khi đã xem hết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11B86-DD98-4974-8D6F-7F39314F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Chọn ngẫu nhiên trong toàn bộ từ đang hoạt động để tạo phiên xem lại.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897E3-CA8A-4B5D-B6D1-12FB614F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Mục đích: phân phối nội dung đa dạng; Leitner chỉ điều khiển lịch ôn, không điều khiển việc chọn từ mới.</a:t>
            </a:r>
          </a:p>
        </p:txBody>
      </p:sp>
    </p:spTree>
    <p:extLst>
      <p:ext uri="{BB962C8B-B14F-4D97-AF65-F5344CB8AC3E}">
        <p14:creationId xmlns:p14="http://schemas.microsoft.com/office/powerpoint/2010/main" val="1134273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4586AC-74AF-4361-B935-F5FCEC3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Leitner 5 ngăn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A9B77-9E98-43EC-AF6A-F43895A9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70350-1A92-4EAF-8029-3B34020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Từ nhớ tốt được giãn lịch, từ trả lời sai quay về ngăn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7151C-4F79-4D57-BB14-D8064664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8FB2D-486E-4BC1-B355-2893F111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171450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92991-F67A-43D0-BBA0-9967E716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24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NGĂN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A750E-DFE8-4100-A7AE-7AB63605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ngày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17A37-4771-4918-842E-8F3719F4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210050"/>
            <a:ext cx="28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CFD9D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FD9D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5CD7D-F77D-4A87-BB77-9EAD7AC0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1714500" cy="1952625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C77B5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1F0E8-C0C3-44F5-9DB0-51B546B2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956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NGĂN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F18A4-07E0-4B17-A435-97056589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52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ngày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DD076-E9DF-4060-8A9B-5DA5200C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95738"/>
            <a:ext cx="28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CFD9D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FD9D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8F87B-5091-4927-8182-0C40FE8D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1714500" cy="2381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A8976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29430-1C67-4AB8-ABE8-CCF2C2FA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670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NGĂN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2726E-9DA6-4E52-A98E-58402AB1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2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ngày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3563D-77A4-4EE3-B912-1E6A0CCE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781425"/>
            <a:ext cx="28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CFD9D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FD9D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DDC82-E68C-4CFA-9840-587446B6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28875"/>
            <a:ext cx="1714500" cy="2809875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72A2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B9F49-6F4C-4B72-BE8A-271C7AFF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384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NGĂN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69468-B79F-4437-B8E2-AAD69974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ngày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05F85-E42A-4C3A-A806-FEE828B1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7113"/>
            <a:ext cx="28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CFD9D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FD9D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75421-A05D-409E-99BF-39398939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00250"/>
            <a:ext cx="1714500" cy="3238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4768B-7FCA-4AA8-8972-286C18F8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098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NGĂN 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29733-55B5-4B8C-A298-4FC2D429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52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ngày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1F36C-23F2-425C-9742-AA019AA3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ĐÚNG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A8E1C-08E9-4F95-88E1-7989C15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Lên một ngăn, tối đa ngăn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3A1AE-F4FB-4E3D-BCB3-0B96527C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SAI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99DC9C-9CA7-4C58-928B-905B4B81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Về ngăn 1 và hẹn ôn lại sau 1 ngày</a:t>
            </a:r>
          </a:p>
        </p:txBody>
      </p:sp>
    </p:spTree>
    <p:extLst>
      <p:ext uri="{BB962C8B-B14F-4D97-AF65-F5344CB8AC3E}">
        <p14:creationId xmlns:p14="http://schemas.microsoft.com/office/powerpoint/2010/main" val="2689978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F6A2F-07DA-45AA-9A19-5A7DE4D3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Ôn tập bằng quiz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05483-212F-430F-8310-0E35B0B1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CD0E7-F7C3-4581-93B9-0DC4BAA9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Ưu tiên các từ đã đến hạn theo lịch Leitner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AE1F4-152D-472C-B9F5-CB46A13F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d8175d6b34ef5"/>
          <a:stretch xmlns:a="http://schemas.openxmlformats.org/drawingml/2006/main"/>
        </p:blipFill>
        <p:spPr>
          <a:xfrm xmlns:a="http://schemas.openxmlformats.org/drawingml/2006/main">
            <a:off x="1281982" y="1381125"/>
            <a:ext cx="2246161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6B8FF-E05B-4061-8E27-D2BD1B72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NGUỒN CÂU HỎI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157E2-E94B-4038-B448-E39A4799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Từ đến hạn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68D2F-4C6F-4C5E-BF48-9C1BC9CD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ngày_ôn_tập_tiếp_theo ≤ thời điểm hiện tại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5C222-2E43-43FC-A2AD-CAEBC54C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7D596-92D3-48EB-A43A-A2EB126E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CÁCH HỎI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0B181-D85B-4A51-8DAB-A49DF9FD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80% trắc nghiệm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76A25-1F7D-4719-A7DC-6CB0ECF7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053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Chọn nghĩa đúng từ các phương án nhiễu.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2C83A-BB44-4EE6-8EB8-AFFF4785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20% nhập từ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7FB60-69E0-4126-992E-34317209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Gõ từ tiếng Anh để tăng khả năng nhớ chủ động.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6B039-3121-456A-87E9-4AA187F8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7687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Backend chấm đáp án và cập nhật Leitner sau mỗi câu.</a:t>
            </a:r>
          </a:p>
        </p:txBody>
      </p:sp>
    </p:spTree>
    <p:extLst>
      <p:ext uri="{BB962C8B-B14F-4D97-AF65-F5344CB8AC3E}">
        <p14:creationId xmlns:p14="http://schemas.microsoft.com/office/powerpoint/2010/main" val="14760481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F1F8B-24D8-4CC5-8438-A7DBF4B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Cơ chế xử lý câu trả lời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14E0A-D798-4FDE-966A-67B18805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D2E62-38FA-4785-BD96-4BF3AA0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Luyện lại ngay trong phiên và giãn lịch giữa các ngày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438A8-5748-4687-9156-17747CA4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511AC-6ECF-4FDF-854A-178CE89D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2476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0A802-514A-4909-BEBD-EB892D94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Hiển thị câu hỏi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A831E-B26D-4656-A91D-9DC96D3B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Trắc nghiệm hoặc nhập từ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4C358-73D7-4696-ABE3-8BDD2EBE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FD9D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FD9D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97670-5132-4DC6-AF00-B5473807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62125"/>
            <a:ext cx="2476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8F0F3"/>
          </a:solidFill>
          <a:ln xmlns:a="http://schemas.openxmlformats.org/drawingml/2006/main" w="9525">
            <a:solidFill>
              <a:srgbClr val="CFD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BFF94-B34F-4611-B9D1-91993361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478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Backend chấm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D4FAB-FF78-4CAE-8765-90C04079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955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Chuẩn hóa chữ hoa, khoảng trắng và Unicode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C3A17-2D18-4F77-8E58-DE7C8489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FD9D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FD9D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145CB-7FCE-40AC-8362-D5975124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381125"/>
            <a:ext cx="41910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6EEE3"/>
          </a:solidFill>
          <a:ln xmlns:a="http://schemas.openxmlformats.org/drawingml/2006/main" w="9525">
            <a:solidFill>
              <a:srgbClr val="72A2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21BE0-B195-4E2F-986B-8A85626E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716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ĐÚNG NGAY LẦN ĐẦU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CEDB1-9D8C-4C90-B79B-74BABCCE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85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Hoàn thành từ và tăng một ngăn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42AEF-A172-49A1-B9F9-C021A992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9375"/>
            <a:ext cx="4191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8E8E1"/>
          </a:solidFill>
          <a:ln xmlns:a="http://schemas.openxmlformats.org/drawingml/2006/main" w="9525">
            <a:solidFill>
              <a:srgbClr val="E3B8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75C30-E2D0-49BD-A882-06C6E91C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09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TRẢ LỜI SAI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4B763-3E2E-4DDC-B872-D55FFED1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Về ngăn 1 và đưa xuống cuối hàng đợi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D707D-F32A-4476-BEB2-FEA19F4C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24375"/>
            <a:ext cx="8858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7323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2322C-ED7E-487C-88D6-F851941D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Sai rồi trả lời lại đúng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B6BA1-F96F-4521-9CE2-0AB72312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95825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4ECE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4ECEC"/>
                </a:solidFill>
                <a:latin typeface="Arial"/>
                <a:ea typeface="Arial"/>
                <a:cs typeface="Arial"/>
              </a:rPr>
              <a:t>Từ hoàn thành phiên nhưng vẫn giữ ngăn 1 để tránh tăng ngăn cho kiến thức vừa quên.</a:t>
            </a:r>
          </a:p>
        </p:txBody>
      </p:sp>
    </p:spTree>
    <p:extLst>
      <p:ext uri="{BB962C8B-B14F-4D97-AF65-F5344CB8AC3E}">
        <p14:creationId xmlns:p14="http://schemas.microsoft.com/office/powerpoint/2010/main" val="21237320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6EF00-74E6-4B20-84D6-587CB2A1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Theo dõi tiến độ và tạo động lực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B1C7E-7B9F-4359-8DC7-7D79EB3C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74B67-2CC9-45AF-8AA5-A933FBE6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Kết quả học được chuyển thành mục tiêu dễ theo dõi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ADEEC-7230-41F5-A460-32F212AD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A057C-D6A4-4514-9850-69DC6016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5 · 10 ·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C2FD9-7ECE-42F1-9D1E-80DA7D80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Mục tiêu từ mới mỗi ngày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B7A9E-78FC-41D1-AC62-33E093AE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1–5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949CF-15B1-4876-B916-6ACC5A6F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Ngăn Leitner của từng từ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5C806-C3F8-494E-A759-8E28EAE8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05A23-2577-44C0-99CD-210D881C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Chuỗi ngày học liên tiếp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2A411-C853-4205-BC41-9C8B531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585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5852F"/>
                </a:solidFill>
                <a:latin typeface="Arial"/>
                <a:ea typeface="Arial"/>
                <a:cs typeface="Arial"/>
              </a:rPr>
              <a:t>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748A1-4E99-4C59-BFD4-4C977EA8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Thành tích và huy hiệu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53244-4C51-4C25-A101-BBD23927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65F93-4101-4E2A-93D9-4A646E2A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TIẾN ĐỘ TỪ VỰNG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B86F2-BC60-4190-B2A0-7EF3D07C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Ngăn 1–2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FA9B1-68BF-4E99-A181-D72D6E2E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2476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F146B-AA1B-484E-B2A6-741DCC65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Mới học / còn yếu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D5F4E-C3F7-456E-B058-FD63D0ED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Ngăn 3–4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85F05-915B-49AD-B4E9-E27FD04D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95800"/>
            <a:ext cx="3429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6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2546F-CEFB-4B59-BFD3-FA22A4F3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481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Đang củng cố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8F09D-DBD5-4F72-9F8F-FFFC9188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Ngăn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F73756-C13E-4965-B65A-AB794888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86350"/>
            <a:ext cx="4381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3C65BE-2379-4AC1-BD01-5ABB6DF4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38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Đã thuộc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7B138-B72C-4345-AB71-9BA4FE0D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Mỗi kết quả quiz đồng thời cập nhật lịch ôn, thống kê, mục tiêu ngày và điều kiện thành tích.</a:t>
            </a:r>
          </a:p>
        </p:txBody>
      </p:sp>
    </p:spTree>
    <p:extLst>
      <p:ext uri="{BB962C8B-B14F-4D97-AF65-F5344CB8AC3E}">
        <p14:creationId xmlns:p14="http://schemas.microsoft.com/office/powerpoint/2010/main" val="11879080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298F6-34CB-4294-BAFA-972243FA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Thiết kế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95C2A-2A71-4CBE-ACF8-298F4ED3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178D8-A0C3-44CF-A675-04FBAED9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Dữ liệu người học, nội dung và phiên học được tách rõ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AD2EA-DD45-44F6-9F8D-3DA63930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64c0f514240f6"/>
          <a:stretch xmlns:a="http://schemas.openxmlformats.org/drawingml/2006/main"/>
        </p:blipFill>
        <p:spPr>
          <a:xfrm xmlns:a="http://schemas.openxmlformats.org/drawingml/2006/main">
            <a:off x="1645795" y="1285875"/>
            <a:ext cx="5852410" cy="4953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94E99-70FC-48B2-AB81-5C4316E3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76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NHÓM DỮ LIỆU CHÍNH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89FB9-EACA-4DD1-A22E-4B864B9C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Người dùng và xác thực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C1B77-F467-4EF6-A4C9-80E78576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Chủ đề, từ vựng, ví dụ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E4393-E4C0-4AB3-A703-6B2F5DF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86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Phiên học và câu hỏi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73FCD-BB3F-441E-BBA0-69128722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52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Tiến độ Leitner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425EA-D320-4B4C-BC0A-0EB4BA8C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19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Yêu thích và thành tích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5F83F-2465-4936-9BA6-4E8E7B5B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429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MySQL 8 · InnoDB · khóa ngoại · giao dịch</a:t>
            </a:r>
          </a:p>
        </p:txBody>
      </p:sp>
    </p:spTree>
    <p:extLst>
      <p:ext uri="{BB962C8B-B14F-4D97-AF65-F5344CB8AC3E}">
        <p14:creationId xmlns:p14="http://schemas.microsoft.com/office/powerpoint/2010/main" val="16292942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4EDDC7-0CAD-4FA4-B26C-A8199975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Độ tin cậy và bảo mật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8AC13-68DD-4984-8D65-78E370C6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FB0F5-3041-44F3-8400-F1613B47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Tiến độ học phải đúng ngay cả khi mạng gián đoạn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909EA-7353-4317-88AE-EFB10071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0543B-B5DD-4843-AB06-2052B44B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95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6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C8178-6CAA-418E-87B0-3AF862E1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Chấm điểm tại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04A2D-7819-4A7C-9729-E0122428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287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Thiết bị không tự quyết định kết quả Leitner.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136F7-BD24-4FF0-A68D-B6A8F66C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A5A71-BCD3-44CB-A989-BD4BF475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95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4BD81-0802-411C-A271-3A97BEAC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Giao dịch 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C10B2-616E-47E0-AA1F-BCF1FCA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431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Lưu câu trả lời và cập nhật tiến độ trong cùng giao dịch.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F571C-E1B1-4416-AEF2-DFBEB483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16D6C-5936-4751-9C26-68074AB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05175"/>
            <a:ext cx="95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97826-DB92-4FCB-B37E-2E70D606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Idempotency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F7CA1-4DE7-4284-9B48-6E077CE2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575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Mã yêu cầu ngăn thao tác gửi lại tạo dữ liệu trùng.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7138D-D63E-4477-88BF-386332A1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28445-2F65-498E-AD87-C57E5880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95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7A9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5F199-F0A1-47E2-BE8E-C375FF4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7A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7A99"/>
                </a:solidFill>
                <a:latin typeface="Arial"/>
                <a:ea typeface="Arial"/>
                <a:cs typeface="Arial"/>
              </a:rPr>
              <a:t>Khôi phục phiên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E2418-9D6A-468C-927B-B614BDEF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719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Lưu vị trí và hàng đợi cục bộ để tiếp tục sau mất mạng.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DA440-8675-4741-90B6-0EDEA93E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4E63F-0C86-4A7F-909A-CD7C249F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33975"/>
            <a:ext cx="95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852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B451C-39EC-4D24-9233-545721E7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86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85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5852F"/>
                </a:solidFill>
                <a:latin typeface="Arial"/>
                <a:ea typeface="Arial"/>
                <a:cs typeface="Arial"/>
              </a:rPr>
              <a:t>JWT và phân quyền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BEAC3-A1D6-4EFF-9F03-BF5A5460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863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Quyền người học và quản trị được kiểm tra tại API.</a:t>
            </a:r>
          </a:p>
        </p:txBody>
      </p:sp>
    </p:spTree>
    <p:extLst>
      <p:ext uri="{BB962C8B-B14F-4D97-AF65-F5344CB8AC3E}">
        <p14:creationId xmlns:p14="http://schemas.microsoft.com/office/powerpoint/2010/main" val="3648228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61502-E980-4E65-9803-074A0A2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Giao diện ứng dụng 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444FA-1067-4F21-A9E6-8D623780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573AD-D13A-4E5A-B1DA-FAA0D34C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Thiết kế tập trung vào một hành động chính ở mỗi bước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DF9BF-9C8F-434F-8624-A2B0C8BC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c087f86324f13"/>
          <a:stretch xmlns:a="http://schemas.openxmlformats.org/drawingml/2006/main"/>
        </p:blipFill>
        <p:spPr>
          <a:xfrm xmlns:a="http://schemas.openxmlformats.org/drawingml/2006/main">
            <a:off x="831823" y="1333500"/>
            <a:ext cx="6861229" cy="47625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9800ece9d401a"/>
          <a:stretch xmlns:a="http://schemas.openxmlformats.org/drawingml/2006/main"/>
        </p:blipFill>
        <p:spPr>
          <a:xfrm xmlns:a="http://schemas.openxmlformats.org/drawingml/2006/main">
            <a:off x="8620125" y="1428750"/>
            <a:ext cx="238125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38A92-C737-4841-869C-BEE6A110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53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Trang chủ · Chủ đề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CAD47-84B8-4687-8AD6-2705761C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53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Tra cứu từ</a:t>
            </a:r>
          </a:p>
        </p:txBody>
      </p:sp>
    </p:spTree>
    <p:extLst>
      <p:ext uri="{BB962C8B-B14F-4D97-AF65-F5344CB8AC3E}">
        <p14:creationId xmlns:p14="http://schemas.microsoft.com/office/powerpoint/2010/main" val="10046486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8223D-FD9C-4D4B-AEEB-93FC9246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Giao diện web quản trị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4B4D3-F574-44B5-972D-CE5005A6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53B20-2983-4E73-BB0B-A4CF5A8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Quản lý nội dung và theo dõi hoạt động học tập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6FC9E-149E-4A38-A926-EC7C4E7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deb91e06b426f"/>
          <a:stretch xmlns:a="http://schemas.openxmlformats.org/drawingml/2006/main"/>
        </p:blipFill>
        <p:spPr>
          <a:xfrm xmlns:a="http://schemas.openxmlformats.org/drawingml/2006/main">
            <a:off x="523875" y="1391264"/>
            <a:ext cx="7810500" cy="450409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59791-4600-4815-AE6B-63C906BA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QUẢN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CAAB0-88FD-489A-BC01-FC9B9610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Chủ đề</a:t>
            </a:r>
          </a:p>
          <a:p xmlns:a="http://schemas.openxmlformats.org/drawingml/2006/main">
            <a:pPr algn="l">
              <a:defRPr sz="15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Từ vựng và ví dụ</a:t>
            </a:r>
          </a:p>
          <a:p xmlns:a="http://schemas.openxmlformats.org/drawingml/2006/main">
            <a:pPr algn="l">
              <a:defRPr sz="15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Người dùng</a:t>
            </a:r>
          </a:p>
          <a:p xmlns:a="http://schemas.openxmlformats.org/drawingml/2006/main">
            <a:pPr algn="l">
              <a:defRPr sz="15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Thành tích</a:t>
            </a:r>
          </a:p>
          <a:p xmlns:a="http://schemas.openxmlformats.org/drawingml/2006/main">
            <a:pPr algn="l">
              <a:defRPr sz="15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• Thống kê học tập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03035-2F47-4FC8-9F38-C10B5F89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Dashboard tổng hợp số người học, chủ đề, từ vựng và phiên học.</a:t>
            </a:r>
          </a:p>
        </p:txBody>
      </p:sp>
    </p:spTree>
    <p:extLst>
      <p:ext uri="{BB962C8B-B14F-4D97-AF65-F5344CB8AC3E}">
        <p14:creationId xmlns:p14="http://schemas.microsoft.com/office/powerpoint/2010/main" val="19271397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0A715-6354-4442-9F30-176000FF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Kiểm thử hệ thống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4CFAE-81B1-4E49-B709-E62394D2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BA956-0BFB-41BF-A3F8-5725D7E7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Kiểm tra từ mã nguồn đến tích hợp với MySQL và giao diện thật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4C46E-E874-49D7-BDA8-FA8CB970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E9149-4E23-4360-AD4F-C987E090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THÀNH PHẦN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59EB6-3C99-4A0B-8C09-0E24080C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428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KIỂM TRA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50C78-9CF7-474E-9DDF-94565B8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NỘI DUNG XÁC MINH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92C36-BB57-466A-B24D-3E551CE0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28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6A2D0-ECC3-4CFA-A3F2-5B4D989D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9061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FF4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87364-1DEE-4444-A3E7-30FF6906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E1D59-AA3C-4A05-8023-79E9D578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526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E6678"/>
                </a:solidFill>
                <a:latin typeface="Arial"/>
                <a:ea typeface="Arial"/>
                <a:cs typeface="Arial"/>
              </a:rPr>
              <a:t>Lint · format ·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33CED-2ECC-4410-930B-69D6C71C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API, validation, giao dịch, nghiệp vụ học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91C29-4523-4803-8395-EFEB56A6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000250"/>
            <a:ext cx="857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ĐẠT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A0354-D1BF-4CD0-AF9C-E7B54BB4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DDE11-307F-4587-95DF-90537694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336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E6678"/>
                </a:solidFill>
                <a:latin typeface="Arial"/>
                <a:ea typeface="Arial"/>
                <a:cs typeface="Arial"/>
              </a:rPr>
              <a:t>Typecheck · unit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3793C-7A0B-41B1-94C4-59C1C3FB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336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Service, lưu phiên, hàng đợi, thuật toán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1CE66-7A77-42B3-AD13-498BCC99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781300"/>
            <a:ext cx="857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ĐẠT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D1343-DACB-468F-A2C3-68BC90AB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109061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FF4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F7098-72B5-48C2-891C-B069570B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Expo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747EC-441B-4256-8C2F-5CB6CD86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147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E6678"/>
                </a:solidFill>
                <a:latin typeface="Arial"/>
                <a:ea typeface="Arial"/>
                <a:cs typeface="Arial"/>
              </a:rPr>
              <a:t>Doctor · export web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1CB29-77A1-4A9D-BF5D-6E13B0C0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147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Tương thích SDK 57 và khả năng đóng gói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DA5B8-7645-4471-B0F2-18718FC7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562350"/>
            <a:ext cx="857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ĐẠT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C78EE-25AE-4CF4-8E2B-003BC4BE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Admin web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24205-819F-453F-8045-FDDC5B7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957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E6678"/>
                </a:solidFill>
                <a:latin typeface="Arial"/>
                <a:ea typeface="Arial"/>
                <a:cs typeface="Arial"/>
              </a:rPr>
              <a:t>Format · test · build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15D63-2FC8-45F6-B7A9-23DC1A96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57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Service quản trị, component và Vite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494C75-79AD-49ED-9BAD-D479EC83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3400"/>
            <a:ext cx="857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ĐẠT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C96AA9-0BDC-4038-A024-5361440B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109061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FF4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618ED-3BF6-483A-B5DC-B3B3939B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Tích hợp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2FC87E-B814-46A4-80EE-14DAB3B3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768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E6678"/>
                </a:solidFill>
                <a:latin typeface="Arial"/>
                <a:ea typeface="Arial"/>
                <a:cs typeface="Arial"/>
              </a:rPr>
              <a:t>MySQL + giao diện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4F277-B6B6-49DD-8566-5EAD71E8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768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Đăng nhập, dashboard, danh mục, thống kê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0C5452-9EB2-482A-94E5-5BF29A86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124450"/>
            <a:ext cx="857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ĐẠT</a:t>
            </a:r>
          </a:p>
        </p:txBody>
      </p:sp>
    </p:spTree>
    <p:extLst>
      <p:ext uri="{BB962C8B-B14F-4D97-AF65-F5344CB8AC3E}">
        <p14:creationId xmlns:p14="http://schemas.microsoft.com/office/powerpoint/2010/main" val="106592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A5EE7-0411-4A7B-8296-95AF555C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Kết quả và hướng phát triển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E43E5-C26E-42B3-B6DB-EEB01742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9D95D-5852-454A-BDEC-5A5C6FA1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572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7B"/>
                </a:solidFill>
                <a:latin typeface="Arial"/>
                <a:ea typeface="Arial"/>
                <a:cs typeface="Arial"/>
              </a:rPr>
              <a:t>Hệ thống đã hoàn thiện luồng cốt lõi, còn không gian để mở rộng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4DF5B-131E-4868-8710-7C01B464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7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7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96F8A-2357-44B1-B851-E0BD8893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ĐÃ ĐẠT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00899-3D53-4832-82A3-7A7AA416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15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A339C-7E4E-4143-B9B3-75B19822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7A846-1AA3-4BD2-8291-C6E04EA1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6220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Mobile, REST API và Web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F81CE-EF51-4C1B-B661-0FF4B08F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16AF4-8C93-44B1-98EE-B79A0344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Flashcard + Leitner 5 ngăn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3AB96-521C-4CED-A13A-66A1ADF8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1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1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BDAE8-204B-48B5-B7D7-665E8409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Tiến độ, mục tiêu ngày, thành tích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F3E34-5AEF-4C4F-96C1-AE8ABD34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45F97-9248-4E4F-956F-CC7B86E7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HẠN CHẾ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3F09A-F51E-4CBF-9AD6-6282CA8E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4B1F9-1695-4AFF-B96A-0622E516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6E647-35BA-4AD7-834A-81066184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6220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Phát âm phụ thuộc giọng thiết bị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644DC-D788-44A3-A2EC-D9EA2B62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04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1925C-4B4C-431C-B889-6884A623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Chưa có thông báo đẩy nhắc ôn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4A551-B36D-43E6-8108-04A53C96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83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583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AFD4A-BF55-4A8C-B51E-796E94AB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0530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Loại câu hỏi còn giới hạn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67EE0-432D-4EC3-A0B6-31C4215D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716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CEC41C-0406-4695-9F55-B70EBA72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HƯỚNG PHÁT TRIỂN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246BA9-9EAE-427C-86A8-D5FE052A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7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162E3-4C67-4E01-B4E1-3D7FE044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1EC64-E511-400B-845B-FBA9F6DF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6220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38"/>
                </a:solidFill>
                <a:latin typeface="Arial"/>
                <a:ea typeface="Arial"/>
                <a:cs typeface="Arial"/>
              </a:rPr>
              <a:t>Học ngoại tuyến và đồng bộ xung đột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6039DF-DC60-41FA-9DEA-8EC79E88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04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E1D00A-B5F9-44BE-BF4C-BCE4AC02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Bài nghe, viết và phát âm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66C9D4-1CD7-4EE9-B8D4-83AF4DBB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719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6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66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B0495-9E40-4903-B0C6-9ED5A077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8"/>
                </a:solidFill>
                <a:latin typeface="Arial"/>
                <a:ea typeface="Arial"/>
                <a:cs typeface="Arial"/>
              </a:rPr>
              <a:t>Giám sát API, sao lưu, CI/CD</a:t>
            </a:r>
          </a:p>
        </p:txBody>
      </p:sp>
    </p:spTree>
    <p:extLst>
      <p:ext uri="{BB962C8B-B14F-4D97-AF65-F5344CB8AC3E}">
        <p14:creationId xmlns:p14="http://schemas.microsoft.com/office/powerpoint/2010/main" val="14444859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E66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6BC81-14DC-4B4A-BCEF-F9DE189A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C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CECEF"/>
                </a:solidFill>
                <a:latin typeface="Arial"/>
                <a:ea typeface="Arial"/>
                <a:cs typeface="Arial"/>
              </a:rPr>
              <a:t>WORDLEAF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540B1-80FD-4546-8F27-4FC06A22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Xin cảm 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3172B-FEC4-487E-B9C6-D1DDFF2A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861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ECE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CEF"/>
                </a:solidFill>
                <a:latin typeface="Arial"/>
                <a:ea typeface="Arial"/>
                <a:cs typeface="Arial"/>
              </a:rPr>
              <a:t>CÂU HỎI &amp; THẢO LUẬN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A314C-D1CD-4A27-9FB2-8CB01B8E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43375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3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CAEB8-9297-4AE3-8190-5E063437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CE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CEF"/>
                </a:solidFill>
                <a:latin typeface="Arial"/>
                <a:ea typeface="Arial"/>
                <a:cs typeface="Arial"/>
              </a:rPr>
              <a:t>Xây dựng ứng dụng học từ vựng tiếng Anh qua flashcard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19119-3F08-469B-A661-1CEAA2BD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CE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CECE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62093399"/>
      </p:ext>
    </p:extLst>
  </p:cSld>
</p:sld>
</file>

<file path=ppt/theme/theme1.xml><?xml version="1.0" encoding="utf-8"?>
<a:theme xmlns:a="http://schemas.openxmlformats.org/drawingml/2006/main" name="ChatGPT">
  <a:themeElements>
    <a:clrScheme name="Wordleaf">
      <a:dk1>
        <a:srgbClr val="000000"/>
      </a:dk1>
      <a:lt1>
        <a:srgbClr val="FFFFFF"/>
      </a:lt1>
      <a:dk2>
        <a:srgbClr val="173238"/>
      </a:dk2>
      <a:lt2>
        <a:srgbClr val="CFD9D6"/>
      </a:lt2>
      <a:accent1>
        <a:srgbClr val="2E6678"/>
      </a:accent1>
      <a:accent2>
        <a:srgbClr val="24715A"/>
      </a:accent2>
      <a:accent3>
        <a:srgbClr val="B95839"/>
      </a:accent3>
      <a:accent4>
        <a:srgbClr val="D3A34A"/>
      </a:accent4>
      <a:accent5>
        <a:srgbClr val="6B7A99"/>
      </a:accent5>
      <a:accent6>
        <a:srgbClr val="72A27D"/>
      </a:accent6>
      <a:hlink>
        <a:srgbClr val="2E6678"/>
      </a:hlink>
      <a:folHlink>
        <a:srgbClr val="B9583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ordleaf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2026-10-05T14:04:44.3560000Z</dcterms:created>
  <dcterms:modified xsi:type="dcterms:W3CDTF">2026-10-05T14:04:44.3560000Z</dcterms:modified>
</coreProperties>
</file>